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9" r:id="rId6"/>
    <p:sldId id="258" r:id="rId7"/>
    <p:sldId id="260" r:id="rId8"/>
    <p:sldId id="261" r:id="rId9"/>
    <p:sldId id="263" r:id="rId10"/>
    <p:sldId id="262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kumimoji="0" lang="zh-CN" altLang="en-US" sz="6000" b="0" i="0" u="none" strike="noStrike" kern="1200" cap="none" spc="0" normalizeH="0" baseline="0" noProof="1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Chalkboard SE Regular" panose="03050602040202020205" charset="0"/>
                <a:cs typeface="Chalkboard SE Regular" panose="03050602040202020205" charset="0"/>
              </a:rPr>
              <a:t>CS348 Project Stage 2</a:t>
            </a:r>
            <a:endParaRPr lang="en-US" altLang="zh-CN" dirty="0">
              <a:effectLst/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altLang="zh-CN" sz="1800" dirty="0">
              <a:latin typeface="+mn-lt"/>
            </a:endParaRPr>
          </a:p>
          <a:p>
            <a:pPr algn="ctr"/>
            <a:r>
              <a:rPr lang="en-US" altLang="zh-CN" sz="1800" dirty="0">
                <a:latin typeface="Chalkboard Regular" panose="03050602040202020205" charset="0"/>
                <a:cs typeface="Chalkboard Regular" panose="03050602040202020205" charset="0"/>
              </a:rPr>
              <a:t>Jiaxun Li</a:t>
            </a:r>
            <a:endParaRPr lang="en-US" altLang="zh-CN" sz="1800" dirty="0">
              <a:latin typeface="Chalkboard Regular" panose="03050602040202020205" charset="0"/>
              <a:cs typeface="Chalkboard Regular" panose="03050602040202020205" charset="0"/>
            </a:endParaRPr>
          </a:p>
          <a:p>
            <a:pPr algn="ctr"/>
            <a:r>
              <a:rPr lang="en-US" altLang="zh-CN" sz="1800" dirty="0">
                <a:latin typeface="Chalkboard Regular" panose="03050602040202020205" charset="0"/>
                <a:cs typeface="Chalkboard Regular" panose="03050602040202020205" charset="0"/>
              </a:rPr>
              <a:t>03/29/2025</a:t>
            </a:r>
            <a:endParaRPr lang="en-US" altLang="zh-CN" sz="1800" dirty="0">
              <a:latin typeface="Chalkboard Regular" panose="03050602040202020205" charset="0"/>
              <a:cs typeface="Chalkboard Regular" panose="03050602040202020205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Chalkboard Regular" panose="03050602040202020205" charset="0"/>
                <a:cs typeface="Chalkboard Regular" panose="03050602040202020205" charset="0"/>
              </a:rPr>
              <a:t>Database Design</a:t>
            </a:r>
            <a:endParaRPr lang="en-US" altLang="zh-CN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User(</a:t>
            </a:r>
            <a:r>
              <a:rPr lang="zh-CN" altLang="en-US" b="1" u="sng">
                <a:latin typeface="Chalkboard Bold" panose="03050602040202020205" charset="0"/>
                <a:cs typeface="Chalkboard Bold" panose="03050602040202020205" charset="0"/>
              </a:rPr>
              <a:t>id</a:t>
            </a:r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, email, password, first_name)</a:t>
            </a:r>
            <a:endParaRPr lang="zh-CN" altLang="en-US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Note(</a:t>
            </a:r>
            <a:r>
              <a:rPr lang="zh-CN" altLang="en-US" b="1" u="sng">
                <a:latin typeface="Chalkboard Bold" panose="03050602040202020205" charset="0"/>
                <a:cs typeface="Chalkboard Bold" panose="03050602040202020205" charset="0"/>
              </a:rPr>
              <a:t>id</a:t>
            </a:r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, data, date, last_modified, </a:t>
            </a:r>
            <a:r>
              <a:rPr lang="zh-CN" altLang="en-US">
                <a:solidFill>
                  <a:srgbClr val="0070C0"/>
                </a:solidFill>
                <a:latin typeface="Chalkboard Regular" panose="03050602040202020205" charset="0"/>
                <a:cs typeface="Chalkboard Regular" panose="03050602040202020205" charset="0"/>
              </a:rPr>
              <a:t>user_id</a:t>
            </a:r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)</a:t>
            </a:r>
            <a:endParaRPr lang="zh-CN" altLang="en-US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Tag(</a:t>
            </a:r>
            <a:r>
              <a:rPr lang="zh-CN" altLang="en-US" b="1" u="sng">
                <a:latin typeface="Chalkboard Bold" panose="03050602040202020205" charset="0"/>
                <a:cs typeface="Chalkboard Bold" panose="03050602040202020205" charset="0"/>
              </a:rPr>
              <a:t>id</a:t>
            </a:r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, name, </a:t>
            </a:r>
            <a:r>
              <a:rPr lang="zh-CN" altLang="en-US">
                <a:solidFill>
                  <a:srgbClr val="0070C0"/>
                </a:solidFill>
                <a:latin typeface="Chalkboard Regular" panose="03050602040202020205" charset="0"/>
                <a:cs typeface="Chalkboard Regular" panose="03050602040202020205" charset="0"/>
              </a:rPr>
              <a:t>user_id</a:t>
            </a:r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)</a:t>
            </a:r>
            <a:endParaRPr lang="zh-CN" altLang="en-US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note_tags(</a:t>
            </a:r>
            <a:r>
              <a:rPr lang="zh-CN" altLang="en-US" b="1" u="sng">
                <a:solidFill>
                  <a:srgbClr val="0070C0"/>
                </a:solidFill>
                <a:latin typeface="Chalkboard Bold" panose="03050602040202020205" charset="0"/>
                <a:cs typeface="Chalkboard Bold" panose="03050602040202020205" charset="0"/>
              </a:rPr>
              <a:t>note_id</a:t>
            </a:r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, </a:t>
            </a:r>
            <a:r>
              <a:rPr lang="zh-CN" altLang="en-US" b="1" u="sng">
                <a:solidFill>
                  <a:srgbClr val="0070C0"/>
                </a:solidFill>
                <a:latin typeface="Chalkboard Bold" panose="03050602040202020205" charset="0"/>
                <a:cs typeface="Chalkboard Bold" panose="03050602040202020205" charset="0"/>
              </a:rPr>
              <a:t>tag_id</a:t>
            </a:r>
            <a:r>
              <a:rPr lang="zh-CN" altLang="en-US">
                <a:latin typeface="Chalkboard Regular" panose="03050602040202020205" charset="0"/>
                <a:cs typeface="Chalkboard Regular" panose="03050602040202020205" charset="0"/>
              </a:rPr>
              <a:t>)</a:t>
            </a:r>
            <a:r>
              <a:rPr lang="en-US" altLang="zh-CN">
                <a:latin typeface="Chalkboard Regular" panose="03050602040202020205" charset="0"/>
                <a:cs typeface="Chalkboard Regular" panose="03050602040202020205" charset="0"/>
              </a:rPr>
              <a:t> </a:t>
            </a:r>
            <a:r>
              <a:rPr lang="en-US" altLang="zh-CN" sz="2000">
                <a:solidFill>
                  <a:srgbClr val="C00000"/>
                </a:solidFill>
                <a:latin typeface="Chalkboard Regular" panose="03050602040202020205" charset="0"/>
                <a:cs typeface="Chalkboard Regular" panose="03050602040202020205" charset="0"/>
              </a:rPr>
              <a:t>this is a many-to-many relationship</a:t>
            </a:r>
            <a:endParaRPr lang="zh-CN" altLang="en-US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0" indent="0">
              <a:buNone/>
            </a:pPr>
            <a:endParaRPr lang="zh-CN" altLang="en-US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0" indent="0">
              <a:buNone/>
            </a:pPr>
            <a:r>
              <a:rPr lang="en-US" altLang="zh-CN" sz="2400">
                <a:latin typeface="Chalkboard Regular" panose="03050602040202020205" charset="0"/>
                <a:cs typeface="Chalkboard Regular" panose="03050602040202020205" charset="0"/>
              </a:rPr>
              <a:t>Note: Bold and underscored attributes are the primary key for the relation. Blue attributes are foreign key(s) in that relation.</a:t>
            </a:r>
            <a:endParaRPr lang="en-US" altLang="zh-CN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2137410" y="2110740"/>
            <a:ext cx="4698365" cy="391795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2115820" y="2248535"/>
            <a:ext cx="1132205" cy="77216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2094865" y="2766060"/>
            <a:ext cx="846455" cy="730885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1978660" y="3242945"/>
            <a:ext cx="2433955" cy="233045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Chalkboard SE Regular" panose="03050602040202020205" charset="0"/>
                <a:cs typeface="Chalkboard SE Regular" panose="03050602040202020205" charset="0"/>
                <a:sym typeface="+mn-ea"/>
              </a:rPr>
              <a:t>User Interface: Sign Up</a:t>
            </a:r>
            <a:endParaRPr lang="en-US"/>
          </a:p>
        </p:txBody>
      </p:sp>
      <p:pic>
        <p:nvPicPr>
          <p:cNvPr id="5" name="Content Placeholder 4" descr="Screenshot 2025-03-29 at 12.10.3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4090" y="1466215"/>
            <a:ext cx="9862185" cy="5167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Chalkboard SE Regular" panose="03050602040202020205" charset="0"/>
                <a:cs typeface="Chalkboard SE Regular" panose="03050602040202020205" charset="0"/>
              </a:rPr>
              <a:t>User Interface: Login</a:t>
            </a:r>
            <a:endParaRPr lang="en-US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pic>
        <p:nvPicPr>
          <p:cNvPr id="6" name="Content Placeholder 5" descr="Screenshot 2025-03-29 at 12.07.5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8015" y="1866900"/>
            <a:ext cx="10935335" cy="3719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674735" cy="707390"/>
          </a:xfrm>
        </p:spPr>
        <p:txBody>
          <a:bodyPr>
            <a:normAutofit fontScale="90000"/>
          </a:bodyPr>
          <a:p>
            <a:r>
              <a:rPr lang="en-US">
                <a:latin typeface="Chalkboard SE Regular" panose="03050602040202020205" charset="0"/>
                <a:cs typeface="Chalkboard SE Regular" panose="03050602040202020205" charset="0"/>
                <a:sym typeface="+mn-ea"/>
              </a:rPr>
              <a:t>User Interface: Home Page</a:t>
            </a:r>
            <a:endParaRPr lang="en-US"/>
          </a:p>
        </p:txBody>
      </p:sp>
      <p:pic>
        <p:nvPicPr>
          <p:cNvPr id="5" name="Content Placeholder 4" descr="Screenshot 2025-03-29 at 12.12.57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11300" y="965835"/>
            <a:ext cx="8773795" cy="576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9408795" cy="993140"/>
          </a:xfrm>
        </p:spPr>
        <p:txBody>
          <a:bodyPr>
            <a:normAutofit/>
          </a:bodyPr>
          <a:p>
            <a:r>
              <a:rPr lang="en-US">
                <a:latin typeface="Chalkboard SE Regular" panose="03050602040202020205" charset="0"/>
                <a:cs typeface="Chalkboard SE Regular" panose="03050602040202020205" charset="0"/>
                <a:sym typeface="+mn-ea"/>
              </a:rPr>
              <a:t>User Interface: Filter</a:t>
            </a:r>
            <a:endParaRPr lang="en-US"/>
          </a:p>
        </p:txBody>
      </p:sp>
      <p:pic>
        <p:nvPicPr>
          <p:cNvPr id="5" name="Content Placeholder 4" descr="Screenshot 2025-03-29 at 12.15.3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8210" y="1358900"/>
            <a:ext cx="10212070" cy="5247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9849485" cy="1064895"/>
          </a:xfrm>
        </p:spPr>
        <p:txBody>
          <a:bodyPr>
            <a:normAutofit/>
          </a:bodyPr>
          <a:p>
            <a:r>
              <a:rPr lang="en-US">
                <a:latin typeface="Chalkboard SE Regular" panose="03050602040202020205" charset="0"/>
                <a:cs typeface="Chalkboard SE Regular" panose="03050602040202020205" charset="0"/>
                <a:sym typeface="+mn-ea"/>
              </a:rPr>
              <a:t>User Interface: Edit Note</a:t>
            </a:r>
            <a:endParaRPr lang="en-US"/>
          </a:p>
        </p:txBody>
      </p:sp>
      <p:pic>
        <p:nvPicPr>
          <p:cNvPr id="7" name="Content Placeholder 6" descr="Screenshot 2025-03-29 at 12.18.4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499870"/>
            <a:ext cx="10945495" cy="4215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Chalkboard SE Regular" panose="03050602040202020205" charset="0"/>
                <a:cs typeface="Chalkboard SE Regular" panose="03050602040202020205" charset="0"/>
                <a:sym typeface="+mn-ea"/>
              </a:rPr>
              <a:t>User Interface: Log Out</a:t>
            </a:r>
            <a:endParaRPr lang="en-US"/>
          </a:p>
        </p:txBody>
      </p:sp>
      <p:pic>
        <p:nvPicPr>
          <p:cNvPr id="5" name="Content Placeholder 4" descr="Screenshot 2025-03-29 at 12.16.4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1075" y="1897380"/>
            <a:ext cx="4223385" cy="9067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81075" y="3117215"/>
            <a:ext cx="93103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/>
                </a:solidFill>
                <a:latin typeface="Chalkboard SE Regular" panose="03050602040202020205" charset="0"/>
                <a:cs typeface="Chalkboard SE Regular" panose="03050602040202020205" charset="0"/>
              </a:rPr>
              <a:t>After clicking Logout, it will go back to Login page and the user can log in again.</a:t>
            </a:r>
            <a:endParaRPr lang="en-US" sz="2400">
              <a:solidFill>
                <a:schemeClr val="bg1"/>
              </a:solidFill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WPS Presentation</Application>
  <PresentationFormat>宽屏</PresentationFormat>
  <Paragraphs>28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Chalkboard SE Regular</vt:lpstr>
      <vt:lpstr>Chalkboard Regular</vt:lpstr>
      <vt:lpstr>Chalkboard Bold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Calibri Light</vt:lpstr>
      <vt:lpstr>凸显</vt:lpstr>
      <vt:lpstr>CS348 Project Stage 2</vt:lpstr>
      <vt:lpstr>Database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Jessie Li</cp:lastModifiedBy>
  <cp:revision>20</cp:revision>
  <dcterms:created xsi:type="dcterms:W3CDTF">2025-03-29T16:27:11Z</dcterms:created>
  <dcterms:modified xsi:type="dcterms:W3CDTF">2025-03-29T16:27:11Z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1033-5.1.1.7676</vt:lpwstr>
  </property>
  <property fmtid="{D5CDD505-2E9C-101B-9397-08002B2CF9AE}" pid="3" name="ICV">
    <vt:lpwstr>6EBFCBE7B8E6041A0E15E867BD6B7399</vt:lpwstr>
  </property>
</Properties>
</file>